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256" r:id="rId3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1" userDrawn="1">
          <p15:clr>
            <a:srgbClr val="A4A3A4"/>
          </p15:clr>
        </p15:guide>
        <p15:guide id="2" pos="3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4F5"/>
    <a:srgbClr val="E4D8ED"/>
    <a:srgbClr val="AB85C7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01"/>
        <p:guide pos="38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633095" y="304165"/>
            <a:ext cx="10547985" cy="3667125"/>
            <a:chOff x="997" y="479"/>
            <a:chExt cx="16611" cy="5775"/>
          </a:xfrm>
        </p:grpSpPr>
        <p:sp>
          <p:nvSpPr>
            <p:cNvPr id="4" name="文本框 3"/>
            <p:cNvSpPr txBox="1"/>
            <p:nvPr/>
          </p:nvSpPr>
          <p:spPr>
            <a:xfrm>
              <a:off x="1289" y="479"/>
              <a:ext cx="1451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/>
                <a:t>Uber as a Two-Sided Marketplace</a:t>
              </a:r>
              <a:endParaRPr lang="en-US" altLang="zh-CN" b="1"/>
            </a:p>
            <a:p>
              <a:pPr algn="ctr"/>
              <a:r>
                <a:rPr lang="en-US" altLang="zh-CN" sz="1400"/>
                <a:t>Connecting riders who need transportation with drivers who provide it</a:t>
              </a:r>
              <a:r>
                <a:rPr lang="en-US" altLang="zh-CN"/>
                <a:t> </a:t>
              </a:r>
              <a:endParaRPr lang="en-US" altLang="zh-CN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997" y="2000"/>
              <a:ext cx="3425" cy="2563"/>
              <a:chOff x="8418" y="2262"/>
              <a:chExt cx="3425" cy="2563"/>
            </a:xfrm>
          </p:grpSpPr>
          <p:sp>
            <p:nvSpPr>
              <p:cNvPr id="9" name="圆角矩形 8"/>
              <p:cNvSpPr/>
              <p:nvPr/>
            </p:nvSpPr>
            <p:spPr>
              <a:xfrm>
                <a:off x="8418" y="2262"/>
                <a:ext cx="3425" cy="2563"/>
              </a:xfrm>
              <a:prstGeom prst="roundRect">
                <a:avLst>
                  <a:gd name="adj" fmla="val 693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6" name="图片 5" descr="tubiao"/>
              <p:cNvPicPr>
                <a:picLocks noChangeAspect="1"/>
              </p:cNvPicPr>
              <p:nvPr/>
            </p:nvPicPr>
            <p:blipFill>
              <a:blip r:embed="rId1"/>
              <a:srcRect l="3255" r="70813" b="22724"/>
              <a:stretch>
                <a:fillRect/>
              </a:stretch>
            </p:blipFill>
            <p:spPr>
              <a:xfrm>
                <a:off x="8710" y="2321"/>
                <a:ext cx="992" cy="987"/>
              </a:xfrm>
              <a:prstGeom prst="rect">
                <a:avLst/>
              </a:prstGeom>
            </p:spPr>
          </p:pic>
          <p:sp>
            <p:nvSpPr>
              <p:cNvPr id="10" name="文本框 9"/>
              <p:cNvSpPr txBox="1"/>
              <p:nvPr/>
            </p:nvSpPr>
            <p:spPr>
              <a:xfrm>
                <a:off x="9328" y="2445"/>
                <a:ext cx="2476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b="1"/>
                  <a:t>Riders </a:t>
                </a:r>
                <a:endParaRPr lang="en-US" altLang="zh-CN" b="1"/>
              </a:p>
              <a:p>
                <a:pPr algn="ctr"/>
                <a:r>
                  <a:rPr lang="en-US" altLang="zh-CN" sz="1200"/>
                  <a:t>(Demand Side)</a:t>
                </a:r>
                <a:endParaRPr lang="en-US" altLang="zh-CN" sz="1200"/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8638" y="3423"/>
                <a:ext cx="2988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" name="文本框 11"/>
              <p:cNvSpPr txBox="1"/>
              <p:nvPr/>
            </p:nvSpPr>
            <p:spPr>
              <a:xfrm>
                <a:off x="8492" y="3530"/>
                <a:ext cx="3134" cy="1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en-US" altLang="zh-CN" sz="1000"/>
                  <a:t>Request ride</a:t>
                </a:r>
                <a:endParaRPr lang="en-US" altLang="zh-CN" sz="1000"/>
              </a:p>
              <a:p>
                <a:pPr indent="0">
                  <a:buFont typeface="Arial" panose="020B0604020202090204" pitchFamily="34" charset="0"/>
                  <a:buNone/>
                </a:pPr>
                <a:r>
                  <a:rPr lang="en-US" altLang="zh-CN" sz="900"/>
                  <a:t>      (origin, destination, time)</a:t>
                </a:r>
                <a:endParaRPr lang="en-US" altLang="zh-CN" sz="900"/>
              </a:p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en-US" altLang="zh-CN" sz="1000"/>
                  <a:t>Willingness to pay </a:t>
                </a:r>
                <a:endParaRPr lang="en-US" altLang="zh-CN" sz="1000"/>
              </a:p>
              <a:p>
                <a:pPr marL="171450" indent="-171450">
                  <a:buFont typeface="Arial" panose="020B0604020202090204" pitchFamily="34" charset="0"/>
                  <a:buChar char="•"/>
                </a:pPr>
                <a:r>
                  <a:rPr lang="en-US" altLang="zh-CN" sz="1000"/>
                  <a:t>Choose and accept matches</a:t>
                </a:r>
                <a:endParaRPr lang="en-US" altLang="zh-CN" sz="1000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7021" y="1936"/>
              <a:ext cx="4642" cy="2628"/>
              <a:chOff x="6841" y="1819"/>
              <a:chExt cx="4642" cy="2628"/>
            </a:xfrm>
          </p:grpSpPr>
          <p:sp>
            <p:nvSpPr>
              <p:cNvPr id="21" name="圆角矩形 20"/>
              <p:cNvSpPr/>
              <p:nvPr/>
            </p:nvSpPr>
            <p:spPr>
              <a:xfrm>
                <a:off x="6899" y="1819"/>
                <a:ext cx="4584" cy="2628"/>
              </a:xfrm>
              <a:prstGeom prst="roundRect">
                <a:avLst>
                  <a:gd name="adj" fmla="val 6934"/>
                </a:avLst>
              </a:prstGeom>
              <a:solidFill>
                <a:schemeClr val="bg2">
                  <a:lumMod val="85000"/>
                  <a:alpha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7802" y="2036"/>
                <a:ext cx="3680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1800" b="1"/>
                  <a:t>Uber Platform </a:t>
                </a:r>
                <a:endParaRPr lang="en-US" altLang="zh-CN" sz="1800" b="1"/>
              </a:p>
              <a:p>
                <a:pPr algn="ctr">
                  <a:buClrTx/>
                  <a:buSzTx/>
                  <a:buFontTx/>
                </a:pPr>
                <a:r>
                  <a:rPr lang="en-US" altLang="zh-CN" sz="1200"/>
                  <a:t>(Marketplace Intermediary)</a:t>
                </a:r>
                <a:endParaRPr lang="en-US" altLang="zh-CN" sz="1200"/>
              </a:p>
            </p:txBody>
          </p:sp>
          <p:pic>
            <p:nvPicPr>
              <p:cNvPr id="7" name="图片 6" descr="tubiao"/>
              <p:cNvPicPr>
                <a:picLocks noChangeAspect="1"/>
              </p:cNvPicPr>
              <p:nvPr/>
            </p:nvPicPr>
            <p:blipFill>
              <a:blip r:embed="rId1"/>
              <a:srcRect l="37708" r="37354" b="22653"/>
              <a:stretch>
                <a:fillRect/>
              </a:stretch>
            </p:blipFill>
            <p:spPr>
              <a:xfrm>
                <a:off x="7119" y="1942"/>
                <a:ext cx="933" cy="965"/>
              </a:xfrm>
              <a:prstGeom prst="rect">
                <a:avLst/>
              </a:prstGeom>
            </p:spPr>
          </p:pic>
          <p:sp>
            <p:nvSpPr>
              <p:cNvPr id="32" name="圆角矩形 31"/>
              <p:cNvSpPr/>
              <p:nvPr/>
            </p:nvSpPr>
            <p:spPr>
              <a:xfrm>
                <a:off x="7142" y="3089"/>
                <a:ext cx="4065" cy="966"/>
              </a:xfrm>
              <a:prstGeom prst="roundRect">
                <a:avLst>
                  <a:gd name="adj" fmla="val 6934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6841" y="3161"/>
                <a:ext cx="4641" cy="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 b="1">
                    <a:solidFill>
                      <a:schemeClr val="accent6">
                        <a:lumMod val="75000"/>
                      </a:schemeClr>
                    </a:solidFill>
                  </a:rPr>
                  <a:t>Match &amp; Dispatch</a:t>
                </a:r>
                <a:endParaRPr lang="en-US" altLang="zh-CN" sz="1600" b="1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indent="0" algn="ctr">
                  <a:buClrTx/>
                  <a:buSzTx/>
                  <a:buNone/>
                </a:pPr>
                <a:r>
                  <a:rPr lang="en-US" altLang="zh-CN" sz="1000"/>
                  <a:t>Assign available drivers to rider requests</a:t>
                </a:r>
                <a:endParaRPr lang="en-US" altLang="zh-CN" sz="1000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14262" y="1936"/>
              <a:ext cx="3346" cy="2768"/>
              <a:chOff x="14261" y="1819"/>
              <a:chExt cx="3346" cy="2768"/>
            </a:xfrm>
          </p:grpSpPr>
          <p:sp>
            <p:nvSpPr>
              <p:cNvPr id="27" name="圆角矩形 26"/>
              <p:cNvSpPr/>
              <p:nvPr/>
            </p:nvSpPr>
            <p:spPr>
              <a:xfrm>
                <a:off x="14261" y="1819"/>
                <a:ext cx="3346" cy="2768"/>
              </a:xfrm>
              <a:prstGeom prst="roundRect">
                <a:avLst>
                  <a:gd name="adj" fmla="val 6934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5123" y="2036"/>
                <a:ext cx="2396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1800" b="1"/>
                  <a:t>Drivers </a:t>
                </a:r>
                <a:endParaRPr lang="en-US" altLang="zh-CN" sz="1800" b="1"/>
              </a:p>
              <a:p>
                <a:pPr algn="ctr">
                  <a:buClrTx/>
                  <a:buSzTx/>
                  <a:buFontTx/>
                </a:pPr>
                <a:r>
                  <a:rPr lang="en-US" altLang="zh-CN" sz="1200"/>
                  <a:t>(Supply Side)</a:t>
                </a:r>
                <a:endParaRPr lang="en-US" altLang="zh-CN" sz="1200"/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>
                <a:off x="14548" y="3047"/>
                <a:ext cx="2785" cy="0"/>
              </a:xfrm>
              <a:prstGeom prst="line">
                <a:avLst/>
              </a:prstGeom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1" name="文本框 30"/>
              <p:cNvSpPr txBox="1"/>
              <p:nvPr/>
            </p:nvSpPr>
            <p:spPr>
              <a:xfrm>
                <a:off x="14405" y="3143"/>
                <a:ext cx="3114" cy="144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171450" indent="-171450" algn="l">
                  <a:buClrTx/>
                  <a:buSzTx/>
                  <a:buFont typeface="Arial" panose="020B0604020202090204" pitchFamily="34" charset="0"/>
                  <a:buChar char="•"/>
                </a:pPr>
                <a:r>
                  <a:rPr lang="en-US" altLang="zh-CN" sz="1000"/>
                  <a:t>Provide vehicle capacity</a:t>
                </a:r>
                <a:endParaRPr lang="en-US" altLang="zh-CN" sz="1000"/>
              </a:p>
              <a:p>
                <a:pPr marL="171450" indent="-171450" algn="l">
                  <a:buClrTx/>
                  <a:buSzTx/>
                  <a:buFont typeface="Arial" panose="020B0604020202090204" pitchFamily="34" charset="0"/>
                  <a:buChar char="•"/>
                </a:pPr>
                <a:r>
                  <a:rPr lang="en-US" altLang="zh-CN" sz="1000"/>
                  <a:t>Report availability and location </a:t>
                </a:r>
                <a:r>
                  <a:rPr lang="en-US" altLang="zh-CN" sz="900"/>
                  <a:t>(online/offline, GPS)</a:t>
                </a:r>
                <a:endParaRPr lang="en-US" altLang="zh-CN" sz="1000"/>
              </a:p>
              <a:p>
                <a:pPr marL="171450" indent="-171450" algn="l">
                  <a:buClrTx/>
                  <a:buSzTx/>
                  <a:buFont typeface="Arial" panose="020B0604020202090204" pitchFamily="34" charset="0"/>
                  <a:buChar char="•"/>
                </a:pPr>
                <a:r>
                  <a:rPr lang="en-US" altLang="zh-CN" sz="1000"/>
                  <a:t>Accept or decline requests</a:t>
                </a:r>
                <a:endParaRPr lang="en-US" altLang="zh-CN" sz="1000"/>
              </a:p>
              <a:p>
                <a:pPr marL="171450" indent="-171450" algn="l">
                  <a:buClrTx/>
                  <a:buSzTx/>
                  <a:buFont typeface="Arial" panose="020B0604020202090204" pitchFamily="34" charset="0"/>
                  <a:buChar char="•"/>
                </a:pPr>
                <a:r>
                  <a:rPr lang="en-US" altLang="zh-CN" sz="1000"/>
                  <a:t>Complete trips</a:t>
                </a:r>
                <a:endParaRPr lang="en-US" altLang="zh-CN" sz="1000"/>
              </a:p>
            </p:txBody>
          </p:sp>
          <p:pic>
            <p:nvPicPr>
              <p:cNvPr id="8" name="图片 7" descr="tubiao"/>
              <p:cNvPicPr>
                <a:picLocks noChangeAspect="1"/>
              </p:cNvPicPr>
              <p:nvPr/>
            </p:nvPicPr>
            <p:blipFill>
              <a:blip r:embed="rId1"/>
              <a:srcRect l="71229" r="2839" b="22218"/>
              <a:stretch>
                <a:fillRect/>
              </a:stretch>
            </p:blipFill>
            <p:spPr>
              <a:xfrm>
                <a:off x="14470" y="1952"/>
                <a:ext cx="977" cy="977"/>
              </a:xfrm>
              <a:prstGeom prst="rect">
                <a:avLst/>
              </a:prstGeom>
            </p:spPr>
          </p:pic>
        </p:grpSp>
        <p:cxnSp>
          <p:nvCxnSpPr>
            <p:cNvPr id="38" name="直接箭头连接符 37"/>
            <p:cNvCxnSpPr/>
            <p:nvPr/>
          </p:nvCxnSpPr>
          <p:spPr>
            <a:xfrm>
              <a:off x="4592" y="2699"/>
              <a:ext cx="2395" cy="0"/>
            </a:xfrm>
            <a:prstGeom prst="straightConnector1">
              <a:avLst/>
            </a:prstGeom>
            <a:ln w="28575" cap="flat" cmpd="sng">
              <a:solidFill>
                <a:schemeClr val="accent1"/>
              </a:solidFill>
              <a:prstDash val="solid"/>
              <a:miter lim="800000"/>
              <a:headEnd type="none"/>
              <a:tailEnd type="triangle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文本框 39"/>
            <p:cNvSpPr txBox="1"/>
            <p:nvPr/>
          </p:nvSpPr>
          <p:spPr>
            <a:xfrm>
              <a:off x="4152" y="2054"/>
              <a:ext cx="328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solidFill>
                    <a:schemeClr val="accent1"/>
                  </a:solidFill>
                </a:rPr>
                <a:t>1. Ride request</a:t>
              </a:r>
              <a:endParaRPr lang="en-US" altLang="zh-CN" sz="1000" b="1">
                <a:solidFill>
                  <a:schemeClr val="accent1"/>
                </a:solidFill>
              </a:endParaRPr>
            </a:p>
            <a:p>
              <a:pPr algn="ctr"/>
              <a:r>
                <a:rPr lang="en-US" altLang="zh-CN" sz="800">
                  <a:solidFill>
                    <a:schemeClr val="accent1"/>
                  </a:solidFill>
                </a:rPr>
                <a:t>(origin, destination, time)</a:t>
              </a:r>
              <a:endParaRPr lang="en-US" altLang="zh-CN" sz="800">
                <a:solidFill>
                  <a:schemeClr val="accent1"/>
                </a:solidFill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1755" y="2069"/>
              <a:ext cx="2400" cy="630"/>
              <a:chOff x="11755" y="1952"/>
              <a:chExt cx="2400" cy="630"/>
            </a:xfrm>
          </p:grpSpPr>
          <p:cxnSp>
            <p:nvCxnSpPr>
              <p:cNvPr id="41" name="直接箭头连接符 40"/>
              <p:cNvCxnSpPr/>
              <p:nvPr/>
            </p:nvCxnSpPr>
            <p:spPr>
              <a:xfrm flipH="1">
                <a:off x="11755" y="2582"/>
                <a:ext cx="2395" cy="0"/>
              </a:xfrm>
              <a:prstGeom prst="straightConnector1">
                <a:avLst/>
              </a:prstGeom>
              <a:ln w="28575" cap="flat" cmpd="sng">
                <a:solidFill>
                  <a:schemeClr val="accent1"/>
                </a:solidFill>
                <a:prstDash val="solid"/>
                <a:miter lim="800000"/>
                <a:headEnd type="none"/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2" name="文本框 41"/>
              <p:cNvSpPr txBox="1"/>
              <p:nvPr/>
            </p:nvSpPr>
            <p:spPr>
              <a:xfrm>
                <a:off x="11769" y="1952"/>
                <a:ext cx="238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chemeClr val="accent1"/>
                    </a:solidFill>
                  </a:rPr>
                  <a:t>Drivers availability</a:t>
                </a:r>
                <a:endParaRPr lang="en-US" altLang="zh-CN" sz="1000" b="1">
                  <a:solidFill>
                    <a:schemeClr val="accent1"/>
                  </a:solidFill>
                </a:endParaRPr>
              </a:p>
              <a:p>
                <a:pPr algn="ctr"/>
                <a:r>
                  <a:rPr lang="en-US" altLang="zh-CN" sz="800">
                    <a:solidFill>
                      <a:schemeClr val="accent1"/>
                    </a:solidFill>
                  </a:rPr>
                  <a:t>(location, status)</a:t>
                </a:r>
                <a:endParaRPr lang="en-US" altLang="zh-CN" sz="80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4587" y="3372"/>
              <a:ext cx="2401" cy="630"/>
              <a:chOff x="11755" y="1952"/>
              <a:chExt cx="2401" cy="630"/>
            </a:xfrm>
          </p:grpSpPr>
          <p:cxnSp>
            <p:nvCxnSpPr>
              <p:cNvPr id="46" name="直接箭头连接符 45"/>
              <p:cNvCxnSpPr/>
              <p:nvPr/>
            </p:nvCxnSpPr>
            <p:spPr>
              <a:xfrm flipH="1">
                <a:off x="11755" y="2582"/>
                <a:ext cx="2395" cy="0"/>
              </a:xfrm>
              <a:prstGeom prst="straightConnector1">
                <a:avLst/>
              </a:prstGeom>
              <a:ln w="28575" cap="flat" cmpd="sng">
                <a:solidFill>
                  <a:schemeClr val="accent4">
                    <a:lumMod val="75000"/>
                  </a:schemeClr>
                </a:solidFill>
                <a:prstDash val="dash"/>
                <a:miter lim="800000"/>
                <a:headEnd type="none"/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7" name="文本框 46"/>
              <p:cNvSpPr txBox="1"/>
              <p:nvPr/>
            </p:nvSpPr>
            <p:spPr>
              <a:xfrm>
                <a:off x="11769" y="1952"/>
                <a:ext cx="2387" cy="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chemeClr val="accent4">
                        <a:lumMod val="75000"/>
                      </a:schemeClr>
                    </a:solidFill>
                  </a:rPr>
                  <a:t>2. Match </a:t>
                </a:r>
                <a:r>
                  <a:rPr lang="en-US" altLang="zh-CN" sz="1000" b="1">
                    <a:solidFill>
                      <a:schemeClr val="accent4">
                        <a:lumMod val="75000"/>
                      </a:schemeClr>
                    </a:solidFill>
                  </a:rPr>
                  <a:t>result</a:t>
                </a:r>
                <a:endParaRPr lang="en-US" altLang="zh-CN" sz="1000" b="1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altLang="zh-CN" sz="800">
                    <a:solidFill>
                      <a:schemeClr val="accent4">
                        <a:lumMod val="75000"/>
                      </a:schemeClr>
                    </a:solidFill>
                  </a:rPr>
                  <a:t>(</a:t>
                </a:r>
                <a:r>
                  <a:rPr lang="en-US" altLang="zh-CN" sz="800">
                    <a:solidFill>
                      <a:schemeClr val="accent4">
                        <a:lumMod val="75000"/>
                      </a:schemeClr>
                    </a:solidFill>
                  </a:rPr>
                  <a:t>driver info, ETA, price)</a:t>
                </a:r>
                <a:endParaRPr lang="en-US" altLang="zh-CN" sz="80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 flipH="1">
              <a:off x="11749" y="3372"/>
              <a:ext cx="2401" cy="630"/>
              <a:chOff x="11755" y="1952"/>
              <a:chExt cx="2401" cy="630"/>
            </a:xfrm>
          </p:grpSpPr>
          <p:cxnSp>
            <p:nvCxnSpPr>
              <p:cNvPr id="49" name="直接箭头连接符 48"/>
              <p:cNvCxnSpPr/>
              <p:nvPr/>
            </p:nvCxnSpPr>
            <p:spPr>
              <a:xfrm flipH="1">
                <a:off x="11755" y="2582"/>
                <a:ext cx="2395" cy="0"/>
              </a:xfrm>
              <a:prstGeom prst="straightConnector1">
                <a:avLst/>
              </a:prstGeom>
              <a:ln w="28575" cap="flat" cmpd="sng">
                <a:solidFill>
                  <a:schemeClr val="accent4">
                    <a:lumMod val="75000"/>
                  </a:schemeClr>
                </a:solidFill>
                <a:prstDash val="dash"/>
                <a:miter lim="800000"/>
                <a:headEnd type="none"/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11769" y="1952"/>
                <a:ext cx="2387" cy="5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chemeClr val="accent4">
                        <a:lumMod val="75000"/>
                      </a:schemeClr>
                    </a:solidFill>
                  </a:rPr>
                  <a:t>3. Dispatch</a:t>
                </a:r>
                <a:endParaRPr lang="en-US" altLang="zh-CN" sz="1000" b="1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pPr algn="ctr"/>
                <a:r>
                  <a:rPr lang="en-US" altLang="zh-CN" sz="800">
                    <a:solidFill>
                      <a:schemeClr val="accent4">
                        <a:lumMod val="75000"/>
                      </a:schemeClr>
                    </a:solidFill>
                  </a:rPr>
                  <a:t>(trip details, route guidance</a:t>
                </a:r>
                <a:r>
                  <a:rPr lang="en-US" altLang="zh-CN" sz="800">
                    <a:solidFill>
                      <a:schemeClr val="accent4">
                        <a:lumMod val="75000"/>
                      </a:schemeClr>
                    </a:solidFill>
                  </a:rPr>
                  <a:t>)</a:t>
                </a:r>
                <a:endParaRPr lang="en-US" altLang="zh-CN" sz="80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4586" y="4625"/>
              <a:ext cx="9551" cy="427"/>
              <a:chOff x="11761" y="1952"/>
              <a:chExt cx="2395" cy="427"/>
            </a:xfrm>
          </p:grpSpPr>
          <p:cxnSp>
            <p:nvCxnSpPr>
              <p:cNvPr id="52" name="直接箭头连接符 51"/>
              <p:cNvCxnSpPr/>
              <p:nvPr/>
            </p:nvCxnSpPr>
            <p:spPr>
              <a:xfrm flipH="1">
                <a:off x="11761" y="2379"/>
                <a:ext cx="2395" cy="0"/>
              </a:xfrm>
              <a:prstGeom prst="straightConnector1">
                <a:avLst/>
              </a:prstGeom>
              <a:ln w="28575" cap="flat" cmpd="sng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headEnd type="none"/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3" name="文本框 52"/>
              <p:cNvSpPr txBox="1"/>
              <p:nvPr/>
            </p:nvSpPr>
            <p:spPr>
              <a:xfrm>
                <a:off x="11769" y="1952"/>
                <a:ext cx="2387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chemeClr val="tx1"/>
                    </a:solidFill>
                  </a:rPr>
                  <a:t>4. Tansportation service </a:t>
                </a:r>
                <a:r>
                  <a:rPr lang="en-US" altLang="zh-CN" sz="800">
                    <a:solidFill>
                      <a:schemeClr val="tx1"/>
                    </a:solidFill>
                  </a:rPr>
                  <a:t>(driver provides the ride)</a:t>
                </a:r>
                <a:endParaRPr lang="en-US" altLang="zh-CN" sz="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 flipH="1">
              <a:off x="4589" y="5304"/>
              <a:ext cx="3643" cy="822"/>
              <a:chOff x="11755" y="2142"/>
              <a:chExt cx="2395" cy="822"/>
            </a:xfrm>
          </p:grpSpPr>
          <p:cxnSp>
            <p:nvCxnSpPr>
              <p:cNvPr id="55" name="直接箭头连接符 54"/>
              <p:cNvCxnSpPr/>
              <p:nvPr/>
            </p:nvCxnSpPr>
            <p:spPr>
              <a:xfrm flipH="1">
                <a:off x="11755" y="2582"/>
                <a:ext cx="2395" cy="0"/>
              </a:xfrm>
              <a:prstGeom prst="straightConnector1">
                <a:avLst/>
              </a:prstGeom>
              <a:ln w="28575" cap="flat" cmpd="sng">
                <a:solidFill>
                  <a:srgbClr val="7030A0">
                    <a:alpha val="59000"/>
                  </a:srgbClr>
                </a:solidFill>
                <a:prstDash val="dash"/>
                <a:miter lim="800000"/>
                <a:headEnd type="none"/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11805" y="2142"/>
                <a:ext cx="230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rgbClr val="7030A0"/>
                    </a:solidFill>
                  </a:rPr>
                  <a:t>5. Fare payment</a:t>
                </a:r>
                <a:endParaRPr lang="en-US" altLang="zh-CN" sz="1000" b="1">
                  <a:solidFill>
                    <a:srgbClr val="7030A0"/>
                  </a:solidFill>
                </a:endParaRPr>
              </a:p>
              <a:p>
                <a:pPr algn="ctr"/>
                <a:endParaRPr lang="en-US" altLang="zh-CN" sz="1000" b="1">
                  <a:solidFill>
                    <a:srgbClr val="7030A0"/>
                  </a:solidFill>
                </a:endParaRPr>
              </a:p>
              <a:p>
                <a:pPr algn="ctr"/>
                <a:r>
                  <a:rPr lang="en-US" altLang="zh-CN" sz="800">
                    <a:solidFill>
                      <a:srgbClr val="7030A0"/>
                    </a:solidFill>
                  </a:rPr>
                  <a:t>(rider pays through platform)</a:t>
                </a:r>
                <a:endParaRPr lang="en-US" altLang="zh-CN" sz="800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8156" y="5288"/>
              <a:ext cx="2396" cy="966"/>
              <a:chOff x="13889" y="6405"/>
              <a:chExt cx="2396" cy="966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14137" y="6405"/>
                <a:ext cx="1947" cy="966"/>
              </a:xfrm>
              <a:prstGeom prst="roundRect">
                <a:avLst>
                  <a:gd name="adj" fmla="val 6934"/>
                </a:avLst>
              </a:prstGeom>
              <a:solidFill>
                <a:srgbClr val="7030A0">
                  <a:alpha val="19000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13889" y="6495"/>
                <a:ext cx="2396" cy="7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>
                  <a:buClrTx/>
                  <a:buSzTx/>
                  <a:buFontTx/>
                </a:pPr>
                <a:r>
                  <a:rPr lang="en-US" altLang="zh-CN" sz="1400" b="1">
                    <a:solidFill>
                      <a:srgbClr val="7030A0"/>
                    </a:solidFill>
                  </a:rPr>
                  <a:t>Uber </a:t>
                </a:r>
                <a:endParaRPr lang="en-US" altLang="zh-CN" sz="1400" b="1">
                  <a:solidFill>
                    <a:srgbClr val="7030A0"/>
                  </a:solidFill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en-US" altLang="zh-CN" sz="900">
                    <a:solidFill>
                      <a:srgbClr val="7030A0"/>
                    </a:solidFill>
                  </a:rPr>
                  <a:t>(takes a service fee)</a:t>
                </a:r>
                <a:endParaRPr lang="en-US" altLang="zh-CN" sz="900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 flipH="1">
              <a:off x="10523" y="5303"/>
              <a:ext cx="3643" cy="822"/>
              <a:chOff x="11755" y="2142"/>
              <a:chExt cx="2395" cy="822"/>
            </a:xfrm>
          </p:grpSpPr>
          <p:cxnSp>
            <p:nvCxnSpPr>
              <p:cNvPr id="66" name="直接箭头连接符 65"/>
              <p:cNvCxnSpPr/>
              <p:nvPr/>
            </p:nvCxnSpPr>
            <p:spPr>
              <a:xfrm flipH="1">
                <a:off x="11755" y="2582"/>
                <a:ext cx="2395" cy="0"/>
              </a:xfrm>
              <a:prstGeom prst="straightConnector1">
                <a:avLst/>
              </a:prstGeom>
              <a:ln w="28575" cap="flat" cmpd="sng">
                <a:solidFill>
                  <a:srgbClr val="7030A0">
                    <a:alpha val="59000"/>
                  </a:srgbClr>
                </a:solidFill>
                <a:prstDash val="dash"/>
                <a:miter lim="800000"/>
                <a:headEnd type="none"/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7" name="文本框 66"/>
              <p:cNvSpPr txBox="1"/>
              <p:nvPr/>
            </p:nvSpPr>
            <p:spPr>
              <a:xfrm>
                <a:off x="11805" y="2142"/>
                <a:ext cx="2304" cy="8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 b="1">
                    <a:solidFill>
                      <a:srgbClr val="7030A0"/>
                    </a:solidFill>
                  </a:rPr>
                  <a:t>6. Earnings payment</a:t>
                </a:r>
                <a:endParaRPr lang="en-US" altLang="zh-CN" sz="1000" b="1">
                  <a:solidFill>
                    <a:srgbClr val="7030A0"/>
                  </a:solidFill>
                </a:endParaRPr>
              </a:p>
              <a:p>
                <a:pPr algn="ctr"/>
                <a:endParaRPr lang="en-US" altLang="zh-CN" sz="1000" b="1">
                  <a:solidFill>
                    <a:srgbClr val="7030A0"/>
                  </a:solidFill>
                </a:endParaRPr>
              </a:p>
              <a:p>
                <a:pPr algn="ctr"/>
                <a:r>
                  <a:rPr lang="en-US" altLang="zh-CN" sz="800">
                    <a:solidFill>
                      <a:srgbClr val="7030A0"/>
                    </a:solidFill>
                  </a:rPr>
                  <a:t>(driver receives earnings)</a:t>
                </a:r>
                <a:endParaRPr lang="en-US" altLang="zh-CN" sz="800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14509" y="479"/>
              <a:ext cx="3099" cy="1165"/>
              <a:chOff x="13079" y="6317"/>
              <a:chExt cx="3294" cy="1454"/>
            </a:xfrm>
          </p:grpSpPr>
          <p:grpSp>
            <p:nvGrpSpPr>
              <p:cNvPr id="73" name="组合 72"/>
              <p:cNvGrpSpPr/>
              <p:nvPr/>
            </p:nvGrpSpPr>
            <p:grpSpPr>
              <a:xfrm>
                <a:off x="13317" y="6317"/>
                <a:ext cx="3055" cy="1444"/>
                <a:chOff x="13053" y="6556"/>
                <a:chExt cx="3055" cy="1444"/>
              </a:xfrm>
            </p:grpSpPr>
            <p:cxnSp>
              <p:nvCxnSpPr>
                <p:cNvPr id="68" name="直接箭头连接符 67"/>
                <p:cNvCxnSpPr/>
                <p:nvPr/>
              </p:nvCxnSpPr>
              <p:spPr>
                <a:xfrm>
                  <a:off x="13053" y="6820"/>
                  <a:ext cx="1111" cy="0"/>
                </a:xfrm>
                <a:prstGeom prst="straightConnector1">
                  <a:avLst/>
                </a:prstGeom>
                <a:ln w="28575" cap="flat" cmpd="sng">
                  <a:solidFill>
                    <a:schemeClr val="accent1"/>
                  </a:solidFill>
                  <a:prstDash val="solid"/>
                  <a:miter lim="800000"/>
                  <a:headEnd type="none"/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箭头连接符 68"/>
                <p:cNvCxnSpPr/>
                <p:nvPr/>
              </p:nvCxnSpPr>
              <p:spPr>
                <a:xfrm>
                  <a:off x="13053" y="7128"/>
                  <a:ext cx="1118" cy="0"/>
                </a:xfrm>
                <a:prstGeom prst="straightConnector1">
                  <a:avLst/>
                </a:prstGeom>
                <a:ln w="28575" cap="flat" cmpd="sng">
                  <a:solidFill>
                    <a:schemeClr val="accent4">
                      <a:lumMod val="75000"/>
                    </a:schemeClr>
                  </a:solidFill>
                  <a:prstDash val="dash"/>
                  <a:miter lim="800000"/>
                  <a:headEnd type="none"/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箭头连接符 69"/>
                <p:cNvCxnSpPr/>
                <p:nvPr/>
              </p:nvCxnSpPr>
              <p:spPr>
                <a:xfrm>
                  <a:off x="13060" y="7436"/>
                  <a:ext cx="1111" cy="0"/>
                </a:xfrm>
                <a:prstGeom prst="straightConnector1">
                  <a:avLst/>
                </a:prstGeom>
                <a:ln w="28575" cap="flat" cmpd="sng">
                  <a:solidFill>
                    <a:schemeClr val="accent6">
                      <a:lumMod val="75000"/>
                    </a:schemeClr>
                  </a:solidFill>
                  <a:prstDash val="solid"/>
                  <a:miter lim="800000"/>
                  <a:headEnd type="none"/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箭头连接符 70"/>
                <p:cNvCxnSpPr/>
                <p:nvPr/>
              </p:nvCxnSpPr>
              <p:spPr>
                <a:xfrm>
                  <a:off x="13060" y="7744"/>
                  <a:ext cx="1118" cy="0"/>
                </a:xfrm>
                <a:prstGeom prst="straightConnector1">
                  <a:avLst/>
                </a:prstGeom>
                <a:ln w="28575" cap="flat" cmpd="sng">
                  <a:solidFill>
                    <a:srgbClr val="AB85C7"/>
                  </a:solidFill>
                  <a:prstDash val="dash"/>
                  <a:miter lim="800000"/>
                  <a:headEnd type="none"/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72" name="文本框 71"/>
                <p:cNvSpPr txBox="1"/>
                <p:nvPr/>
              </p:nvSpPr>
              <p:spPr>
                <a:xfrm>
                  <a:off x="14178" y="6556"/>
                  <a:ext cx="1930" cy="1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750"/>
                    <a:t>Information flow</a:t>
                  </a:r>
                  <a:endParaRPr lang="en-US" altLang="zh-CN" sz="750"/>
                </a:p>
                <a:p>
                  <a:pPr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750"/>
                    <a:t>Platform decision flow </a:t>
                  </a:r>
                  <a:endParaRPr lang="en-US" altLang="zh-CN" sz="750"/>
                </a:p>
                <a:p>
                  <a:pPr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750"/>
                    <a:t>Service flow</a:t>
                  </a:r>
                  <a:endParaRPr lang="en-US" altLang="zh-CN" sz="750"/>
                </a:p>
                <a:p>
                  <a:pPr>
                    <a:lnSpc>
                      <a:spcPct val="14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altLang="zh-CN" sz="750"/>
                    <a:t>Payment flow</a:t>
                  </a:r>
                  <a:endParaRPr lang="en-US" altLang="zh-CN" sz="750"/>
                </a:p>
              </p:txBody>
            </p:sp>
          </p:grpSp>
          <p:sp>
            <p:nvSpPr>
              <p:cNvPr id="74" name="圆角矩形 73"/>
              <p:cNvSpPr/>
              <p:nvPr/>
            </p:nvSpPr>
            <p:spPr>
              <a:xfrm>
                <a:off x="13079" y="6317"/>
                <a:ext cx="3294" cy="1454"/>
              </a:xfrm>
              <a:prstGeom prst="roundRect">
                <a:avLst>
                  <a:gd name="adj" fmla="val 6934"/>
                </a:avLst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4284345" y="17259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6" name="组合 65"/>
          <p:cNvGrpSpPr/>
          <p:nvPr/>
        </p:nvGrpSpPr>
        <p:grpSpPr>
          <a:xfrm>
            <a:off x="358140" y="923290"/>
            <a:ext cx="11222355" cy="4710430"/>
            <a:chOff x="432" y="2162"/>
            <a:chExt cx="17673" cy="7418"/>
          </a:xfrm>
        </p:grpSpPr>
        <p:sp>
          <p:nvSpPr>
            <p:cNvPr id="11" name="圆角矩形 10"/>
            <p:cNvSpPr/>
            <p:nvPr/>
          </p:nvSpPr>
          <p:spPr>
            <a:xfrm>
              <a:off x="433" y="3034"/>
              <a:ext cx="3480" cy="3526"/>
            </a:xfrm>
            <a:prstGeom prst="roundRect">
              <a:avLst>
                <a:gd name="adj" fmla="val 6693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433" y="3766"/>
              <a:ext cx="3480" cy="2794"/>
            </a:xfrm>
            <a:prstGeom prst="roundRect">
              <a:avLst>
                <a:gd name="adj" fmla="val 6693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32" y="3121"/>
              <a:ext cx="34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chemeClr val="bg1"/>
                  </a:solidFill>
                  <a:ea typeface="Calibri" charset="0"/>
                  <a:cs typeface="+mn-lt"/>
                </a:rPr>
                <a:t> 1  </a:t>
              </a:r>
              <a:r>
                <a:rPr lang="en-US" altLang="zh-CN" b="1">
                  <a:solidFill>
                    <a:schemeClr val="bg1"/>
                  </a:solidFill>
                  <a:cs typeface="+mn-lt"/>
                </a:rPr>
                <a:t>Observe</a:t>
              </a:r>
              <a:endParaRPr lang="en-US" altLang="zh-CN" b="1">
                <a:solidFill>
                  <a:schemeClr val="bg1"/>
                </a:solidFill>
                <a:cs typeface="+mn-lt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251" y="3034"/>
              <a:ext cx="3480" cy="3526"/>
            </a:xfrm>
            <a:prstGeom prst="roundRect">
              <a:avLst>
                <a:gd name="adj" fmla="val 6693"/>
              </a:avLst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5251" y="3766"/>
              <a:ext cx="3480" cy="2794"/>
            </a:xfrm>
            <a:prstGeom prst="roundRect">
              <a:avLst>
                <a:gd name="adj" fmla="val 6693"/>
              </a:avLst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254" y="3121"/>
              <a:ext cx="348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chemeClr val="bg1"/>
                  </a:solidFill>
                  <a:ea typeface="Calibri" charset="0"/>
                  <a:cs typeface="+mn-lt"/>
                </a:rPr>
                <a:t> 2   Match</a:t>
              </a:r>
              <a:endParaRPr lang="en-US" altLang="zh-CN" b="1">
                <a:solidFill>
                  <a:schemeClr val="bg1"/>
                </a:solidFill>
                <a:cs typeface="+mn-lt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9938" y="3034"/>
              <a:ext cx="3480" cy="3526"/>
            </a:xfrm>
            <a:prstGeom prst="roundRect">
              <a:avLst>
                <a:gd name="adj" fmla="val 6693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9938" y="3766"/>
              <a:ext cx="3480" cy="2794"/>
            </a:xfrm>
            <a:prstGeom prst="roundRect">
              <a:avLst>
                <a:gd name="adj" fmla="val 6693"/>
              </a:avLst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9937" y="3121"/>
              <a:ext cx="34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chemeClr val="bg1"/>
                  </a:solidFill>
                  <a:ea typeface="Calibri" charset="0"/>
                  <a:cs typeface="+mn-lt"/>
                </a:rPr>
                <a:t> 3  Serve &amp; release</a:t>
              </a:r>
              <a:endParaRPr lang="en-US" altLang="zh-CN" b="1">
                <a:solidFill>
                  <a:schemeClr val="bg1"/>
                </a:solidFill>
                <a:cs typeface="+mn-lt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4625" y="3034"/>
              <a:ext cx="3480" cy="3526"/>
            </a:xfrm>
            <a:prstGeom prst="roundRect">
              <a:avLst>
                <a:gd name="adj" fmla="val 6693"/>
              </a:avLst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14625" y="3766"/>
              <a:ext cx="3480" cy="2794"/>
            </a:xfrm>
            <a:prstGeom prst="roundRect">
              <a:avLst>
                <a:gd name="adj" fmla="val 6693"/>
              </a:avLst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620" y="3121"/>
              <a:ext cx="34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chemeClr val="bg1"/>
                  </a:solidFill>
                  <a:ea typeface="Calibri" charset="0"/>
                  <a:cs typeface="+mn-lt"/>
                </a:rPr>
                <a:t> 4  Update</a:t>
              </a:r>
              <a:endParaRPr lang="en-US" altLang="zh-CN" b="1">
                <a:solidFill>
                  <a:schemeClr val="bg1"/>
                </a:solidFill>
                <a:cs typeface="+mn-lt"/>
              </a:endParaRPr>
            </a:p>
          </p:txBody>
        </p:sp>
        <p:pic>
          <p:nvPicPr>
            <p:cNvPr id="25" name="图片 24" descr="/Users/XU/Library/Containers/com.kingsoft.wpsoffice.mac/Data/tmp/kaimatting/20260909171503/output_aiMatting_20260909171505.pngoutput_aiMatting_2026090917150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7" y="3918"/>
              <a:ext cx="2973" cy="918"/>
            </a:xfrm>
            <a:prstGeom prst="rect">
              <a:avLst/>
            </a:prstGeom>
          </p:spPr>
        </p:pic>
        <p:sp>
          <p:nvSpPr>
            <p:cNvPr id="27" name="圆角矩形 26"/>
            <p:cNvSpPr/>
            <p:nvPr/>
          </p:nvSpPr>
          <p:spPr>
            <a:xfrm>
              <a:off x="564" y="5052"/>
              <a:ext cx="3213" cy="918"/>
            </a:xfrm>
            <a:prstGeom prst="roundRect">
              <a:avLst>
                <a:gd name="adj" fmla="val 21677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513" y="5246"/>
                  <a:ext cx="3302" cy="483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=(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400" i="1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" y="5246"/>
                  <a:ext cx="3302" cy="483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432" y="6075"/>
              <a:ext cx="3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00">
                  <a:solidFill>
                    <a:schemeClr val="accent1"/>
                  </a:solidFill>
                </a:rPr>
                <a:t>Requests · Idle drivers · Busy drivers</a:t>
              </a:r>
              <a:endParaRPr lang="en-US" altLang="zh-CN" sz="900">
                <a:solidFill>
                  <a:schemeClr val="accent1"/>
                </a:solidFill>
              </a:endParaRPr>
            </a:p>
          </p:txBody>
        </p:sp>
        <p:pic>
          <p:nvPicPr>
            <p:cNvPr id="30" name="图片 29" descr="/Users/XU/Library/Containers/com.kingsoft.wpsoffice.mac/Data/tmp/kaimatting/20260909171455/output_aiMatting_20260909171500.pngoutput_aiMatting_2026090917150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00" y="3918"/>
              <a:ext cx="2351" cy="924"/>
            </a:xfrm>
            <a:prstGeom prst="rect">
              <a:avLst/>
            </a:prstGeom>
          </p:spPr>
        </p:pic>
        <p:sp>
          <p:nvSpPr>
            <p:cNvPr id="31" name="圆角矩形 30"/>
            <p:cNvSpPr/>
            <p:nvPr/>
          </p:nvSpPr>
          <p:spPr>
            <a:xfrm>
              <a:off x="5387" y="5035"/>
              <a:ext cx="3213" cy="918"/>
            </a:xfrm>
            <a:prstGeom prst="roundRect">
              <a:avLst>
                <a:gd name="adj" fmla="val 2167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5317" y="5059"/>
                  <a:ext cx="3359" cy="827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∈ </m:t>
                        </m:r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𝐴</m:t>
                        </m:r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4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𝑖𝑗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" y="5059"/>
                  <a:ext cx="3359" cy="82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文本框 32"/>
            <p:cNvSpPr txBox="1"/>
            <p:nvPr/>
          </p:nvSpPr>
          <p:spPr>
            <a:xfrm>
              <a:off x="5250" y="6038"/>
              <a:ext cx="3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>
                  <a:solidFill>
                    <a:schemeClr val="accent4"/>
                  </a:solidFill>
                </a:rPr>
                <a:t>Most feasible matches</a:t>
              </a:r>
              <a:endParaRPr lang="en-US" altLang="zh-CN" sz="900">
                <a:solidFill>
                  <a:schemeClr val="accent4"/>
                </a:solidFill>
              </a:endParaRPr>
            </a:p>
          </p:txBody>
        </p:sp>
        <p:pic>
          <p:nvPicPr>
            <p:cNvPr id="34" name="图片 33" descr="/Users/XU/Library/Containers/com.kingsoft.wpsoffice.mac/Data/tmp/kaimatting/20260909171803/output_aiMatting_20260909171805.pngoutput_aiMatting_2026090917180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21" y="3918"/>
              <a:ext cx="2585" cy="924"/>
            </a:xfrm>
            <a:prstGeom prst="rect">
              <a:avLst/>
            </a:prstGeom>
          </p:spPr>
        </p:pic>
        <p:sp>
          <p:nvSpPr>
            <p:cNvPr id="35" name="圆角矩形 34"/>
            <p:cNvSpPr/>
            <p:nvPr/>
          </p:nvSpPr>
          <p:spPr>
            <a:xfrm>
              <a:off x="10072" y="5035"/>
              <a:ext cx="3213" cy="918"/>
            </a:xfrm>
            <a:prstGeom prst="roundRect">
              <a:avLst>
                <a:gd name="adj" fmla="val 21677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/>
                <p:cNvSpPr txBox="1"/>
                <p:nvPr/>
              </p:nvSpPr>
              <p:spPr>
                <a:xfrm>
                  <a:off x="9947" y="5069"/>
                  <a:ext cx="3359" cy="828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𝑖𝑗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,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DejaVu Math TeX Gyre" panose="02000503000000000000" charset="0"/>
                    <a:cs typeface="DejaVu Math TeX Gyre" panose="02000503000000000000" charset="0"/>
                  </a:endParaRPr>
                </a:p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+</m:t>
                        </m:r>
                        <m:acc>
                          <m:acc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acc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𝜏</m:t>
                            </m:r>
                          </m:e>
                        </m:acc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400" i="1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36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7" y="5069"/>
                  <a:ext cx="3359" cy="828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本框 36"/>
            <p:cNvSpPr txBox="1"/>
            <p:nvPr/>
          </p:nvSpPr>
          <p:spPr>
            <a:xfrm>
              <a:off x="9936" y="6038"/>
              <a:ext cx="3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>
                  <a:solidFill>
                    <a:schemeClr val="accent2"/>
                  </a:solidFill>
                </a:rPr>
                <a:t>Available at destination</a:t>
              </a:r>
              <a:endParaRPr lang="en-US" altLang="zh-CN" sz="900">
                <a:solidFill>
                  <a:schemeClr val="accent2"/>
                </a:solidFill>
              </a:endParaRPr>
            </a:p>
          </p:txBody>
        </p:sp>
        <p:pic>
          <p:nvPicPr>
            <p:cNvPr id="38" name="图片 37" descr="/Users/XU/Library/Containers/com.kingsoft.wpsoffice.mac/Data/tmp/kaimatting/20260909172302/output_aiMatting_20260909172304.pngoutput_aiMatting_2026090917230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962" y="3918"/>
              <a:ext cx="2806" cy="1043"/>
            </a:xfrm>
            <a:prstGeom prst="rect">
              <a:avLst/>
            </a:prstGeom>
          </p:spPr>
        </p:pic>
        <p:sp>
          <p:nvSpPr>
            <p:cNvPr id="39" name="圆角矩形 38"/>
            <p:cNvSpPr/>
            <p:nvPr/>
          </p:nvSpPr>
          <p:spPr>
            <a:xfrm>
              <a:off x="14757" y="5035"/>
              <a:ext cx="3213" cy="918"/>
            </a:xfrm>
            <a:prstGeom prst="roundRect">
              <a:avLst>
                <a:gd name="adj" fmla="val 21677"/>
              </a:avLst>
            </a:prstGeom>
            <a:solidFill>
              <a:srgbClr val="E4D8E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/>
                <p:cNvSpPr txBox="1"/>
                <p:nvPr/>
              </p:nvSpPr>
              <p:spPr>
                <a:xfrm>
                  <a:off x="14711" y="5253"/>
                  <a:ext cx="3359" cy="490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𝑘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+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=</m:t>
                        </m:r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𝐹</m:t>
                        </m:r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𝑘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+</m:t>
                            </m:r>
                            <m:r>
                              <a:rPr lang="en-US" altLang="zh-CN" sz="1400" i="1">
                                <a:latin typeface="DejaVu Math TeX Gyre" panose="02000503000000000000" charset="0"/>
                                <a:ea typeface="宋体" charset="0"/>
                                <a:cs typeface="DejaVu Math TeX Gyre" panose="02000503000000000000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>
                            <a:latin typeface="DejaVu Math TeX Gyre" panose="02000503000000000000" charset="0"/>
                            <a:ea typeface="宋体" charset="0"/>
                            <a:cs typeface="DejaVu Math TeX Gyre" panose="02000503000000000000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400" i="1">
                    <a:latin typeface="DejaVu Math TeX Gyre" panose="02000503000000000000" charset="0"/>
                    <a:ea typeface="宋体" charset="0"/>
                    <a:cs typeface="DejaVu Math TeX Gyre" panose="02000503000000000000" charset="0"/>
                  </a:endParaRPr>
                </a:p>
              </p:txBody>
            </p:sp>
          </mc:Choice>
          <mc:Fallback>
            <p:sp>
              <p:nvSpPr>
                <p:cNvPr id="4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11" y="5253"/>
                  <a:ext cx="3359" cy="49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文本框 40"/>
            <p:cNvSpPr txBox="1"/>
            <p:nvPr/>
          </p:nvSpPr>
          <p:spPr>
            <a:xfrm>
              <a:off x="14620" y="6068"/>
              <a:ext cx="3481" cy="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900">
                  <a:solidFill>
                    <a:srgbClr val="7030A0"/>
                  </a:solidFill>
                </a:rPr>
                <a:t>New requests + vehicle releases</a:t>
              </a:r>
              <a:endParaRPr lang="en-US" altLang="zh-CN" sz="900">
                <a:solidFill>
                  <a:srgbClr val="7030A0"/>
                </a:solidFill>
              </a:endParaRPr>
            </a:p>
          </p:txBody>
        </p:sp>
        <p:cxnSp>
          <p:nvCxnSpPr>
            <p:cNvPr id="42" name="直接箭头连接符 41"/>
            <p:cNvCxnSpPr/>
            <p:nvPr/>
          </p:nvCxnSpPr>
          <p:spPr>
            <a:xfrm>
              <a:off x="4088" y="4797"/>
              <a:ext cx="955" cy="0"/>
            </a:xfrm>
            <a:prstGeom prst="straightConnector1">
              <a:avLst/>
            </a:prstGeom>
            <a:ln w="60325" cap="flat" cmpd="sng">
              <a:solidFill>
                <a:schemeClr val="accent1"/>
              </a:solidFill>
              <a:prstDash val="solid"/>
              <a:miter lim="800000"/>
              <a:headEnd type="none"/>
              <a:tailEnd type="triangle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>
              <a:off x="8869" y="4836"/>
              <a:ext cx="955" cy="0"/>
            </a:xfrm>
            <a:prstGeom prst="straightConnector1">
              <a:avLst/>
            </a:prstGeom>
            <a:ln w="60325" cap="flat" cmpd="sng">
              <a:solidFill>
                <a:schemeClr val="accent1"/>
              </a:solidFill>
              <a:prstDash val="solid"/>
              <a:miter lim="800000"/>
              <a:headEnd type="none"/>
              <a:tailEnd type="triangle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/>
            <p:nvPr/>
          </p:nvCxnSpPr>
          <p:spPr>
            <a:xfrm>
              <a:off x="13544" y="4842"/>
              <a:ext cx="955" cy="0"/>
            </a:xfrm>
            <a:prstGeom prst="straightConnector1">
              <a:avLst/>
            </a:prstGeom>
            <a:ln w="60325" cap="flat" cmpd="sng">
              <a:solidFill>
                <a:schemeClr val="accent1"/>
              </a:solidFill>
              <a:prstDash val="solid"/>
              <a:miter lim="800000"/>
              <a:headEnd type="none"/>
              <a:tailEnd type="triangle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/>
            <p:nvPr/>
          </p:nvCxnSpPr>
          <p:spPr>
            <a:xfrm>
              <a:off x="6743" y="2215"/>
              <a:ext cx="0" cy="689"/>
            </a:xfrm>
            <a:prstGeom prst="straightConnector1">
              <a:avLst/>
            </a:prstGeom>
            <a:ln w="60325" cap="flat" cmpd="sng">
              <a:solidFill>
                <a:schemeClr val="accent1"/>
              </a:solidFill>
              <a:prstDash val="solid"/>
              <a:miter lim="800000"/>
              <a:headEnd type="none"/>
              <a:tailEnd type="triangle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47" name="图片 46" descr="截屏2026-09-09 17.27.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046" y="2162"/>
              <a:ext cx="755" cy="848"/>
            </a:xfrm>
            <a:prstGeom prst="rect">
              <a:avLst/>
            </a:prstGeom>
          </p:spPr>
        </p:pic>
        <p:pic>
          <p:nvPicPr>
            <p:cNvPr id="48" name="图片 47" descr="截屏2026-09-09 17.27.2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47" y="6660"/>
              <a:ext cx="1082" cy="703"/>
            </a:xfrm>
            <a:prstGeom prst="rect">
              <a:avLst/>
            </a:prstGeom>
          </p:spPr>
        </p:pic>
        <p:pic>
          <p:nvPicPr>
            <p:cNvPr id="50" name="图片 49" descr="截屏2026-09-09 17.27.1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78" y="2201"/>
              <a:ext cx="599" cy="703"/>
            </a:xfrm>
            <a:prstGeom prst="rect">
              <a:avLst/>
            </a:prstGeom>
          </p:spPr>
        </p:pic>
        <p:sp>
          <p:nvSpPr>
            <p:cNvPr id="52" name="文本框 51"/>
            <p:cNvSpPr txBox="1"/>
            <p:nvPr/>
          </p:nvSpPr>
          <p:spPr>
            <a:xfrm>
              <a:off x="6743" y="2183"/>
              <a:ext cx="15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solidFill>
                    <a:schemeClr val="accent1"/>
                  </a:solidFill>
                </a:rPr>
                <a:t>Historical demand</a:t>
              </a:r>
              <a:endParaRPr lang="en-US" altLang="zh-CN" sz="1000" b="1">
                <a:solidFill>
                  <a:schemeClr val="accent1"/>
                </a:solidFill>
              </a:endParaRPr>
            </a:p>
          </p:txBody>
        </p:sp>
        <p:cxnSp>
          <p:nvCxnSpPr>
            <p:cNvPr id="55" name="直接箭头连接符 54"/>
            <p:cNvCxnSpPr/>
            <p:nvPr/>
          </p:nvCxnSpPr>
          <p:spPr>
            <a:xfrm>
              <a:off x="16136" y="2266"/>
              <a:ext cx="0" cy="689"/>
            </a:xfrm>
            <a:prstGeom prst="straightConnector1">
              <a:avLst/>
            </a:prstGeom>
            <a:ln w="60325" cap="flat" cmpd="sng">
              <a:solidFill>
                <a:schemeClr val="accent1"/>
              </a:solidFill>
              <a:prstDash val="solid"/>
              <a:miter lim="800000"/>
              <a:headEnd type="none"/>
              <a:tailEnd type="triangle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/>
          </p:nvSpPr>
          <p:spPr>
            <a:xfrm>
              <a:off x="16136" y="2234"/>
              <a:ext cx="158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solidFill>
                    <a:schemeClr val="accent1"/>
                  </a:solidFill>
                </a:rPr>
                <a:t>New </a:t>
              </a:r>
              <a:endParaRPr lang="en-US" altLang="zh-CN" sz="1000" b="1">
                <a:solidFill>
                  <a:schemeClr val="accent1"/>
                </a:solidFill>
              </a:endParaRPr>
            </a:p>
            <a:p>
              <a:pPr algn="ctr"/>
              <a:r>
                <a:rPr lang="en-US" altLang="zh-CN" sz="1000" b="1">
                  <a:solidFill>
                    <a:schemeClr val="accent1"/>
                  </a:solidFill>
                </a:rPr>
                <a:t>requests</a:t>
              </a:r>
              <a:endParaRPr lang="en-US" altLang="zh-CN" sz="1000" b="1">
                <a:solidFill>
                  <a:schemeClr val="accent1"/>
                </a:solidFill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825" y="6660"/>
              <a:ext cx="31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000" b="1">
                  <a:solidFill>
                    <a:schemeClr val="accent1"/>
                  </a:solidFill>
                </a:rPr>
                <a:t>Unassigned: wait in place;</a:t>
              </a:r>
              <a:endParaRPr lang="en-US" altLang="zh-CN" sz="1000" b="1">
                <a:solidFill>
                  <a:schemeClr val="accent1"/>
                </a:solidFill>
              </a:endParaRPr>
            </a:p>
            <a:p>
              <a:pPr algn="ctr"/>
              <a:r>
                <a:rPr lang="en-US" altLang="zh-CN" sz="1000" b="1">
                  <a:solidFill>
                    <a:schemeClr val="accent1"/>
                  </a:solidFill>
                </a:rPr>
                <a:t>idle time, no empty travel</a:t>
              </a:r>
              <a:endParaRPr lang="en-US" altLang="zh-CN" sz="1000" b="1">
                <a:solidFill>
                  <a:schemeClr val="accent1"/>
                </a:solidFill>
              </a:endParaRPr>
            </a:p>
          </p:txBody>
        </p:sp>
        <p:cxnSp>
          <p:nvCxnSpPr>
            <p:cNvPr id="61" name="肘形连接符 60"/>
            <p:cNvCxnSpPr>
              <a:stCxn id="12" idx="2"/>
              <a:endCxn id="22" idx="2"/>
            </p:cNvCxnSpPr>
            <p:nvPr/>
          </p:nvCxnSpPr>
          <p:spPr>
            <a:xfrm rot="5400000" flipV="1">
              <a:off x="9269" y="-536"/>
              <a:ext cx="5" cy="14192"/>
            </a:xfrm>
            <a:prstGeom prst="bentConnector3">
              <a:avLst>
                <a:gd name="adj1" fmla="val 22770000"/>
              </a:avLst>
            </a:prstGeom>
            <a:ln w="60325" cap="flat" cmpd="sng">
              <a:solidFill>
                <a:schemeClr val="accent1"/>
              </a:solidFill>
              <a:prstDash val="solid"/>
              <a:miter lim="800000"/>
              <a:headEnd type="triangle" w="lg" len="lg"/>
              <a:tailEnd type="none" w="lg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2" name="文本框 61"/>
            <p:cNvSpPr txBox="1"/>
            <p:nvPr/>
          </p:nvSpPr>
          <p:spPr>
            <a:xfrm>
              <a:off x="7289" y="7363"/>
              <a:ext cx="4116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r>
                <a:rPr lang="en-US" altLang="zh-CN" b="1">
                  <a:solidFill>
                    <a:schemeClr val="accent1"/>
                  </a:solidFill>
                </a:rPr>
                <a:t>  Next decision epoch</a:t>
              </a:r>
              <a:endParaRPr lang="en-US" altLang="zh-CN" b="1">
                <a:solidFill>
                  <a:schemeClr val="accent1"/>
                </a:solidFill>
              </a:endParaRPr>
            </a:p>
          </p:txBody>
        </p:sp>
        <p:sp>
          <p:nvSpPr>
            <p:cNvPr id="63" name="圆角矩形 62"/>
            <p:cNvSpPr/>
            <p:nvPr/>
          </p:nvSpPr>
          <p:spPr>
            <a:xfrm>
              <a:off x="3013" y="8196"/>
              <a:ext cx="12788" cy="1385"/>
            </a:xfrm>
            <a:prstGeom prst="roundRect">
              <a:avLst>
                <a:gd name="adj" fmla="val 6693"/>
              </a:avLst>
            </a:prstGeom>
            <a:solidFill>
              <a:srgbClr val="D0E4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4" name="图片 63" descr="截屏2026-09-09 17.27.3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22" y="8423"/>
              <a:ext cx="956" cy="932"/>
            </a:xfrm>
            <a:prstGeom prst="rect">
              <a:avLst/>
            </a:prstGeom>
          </p:spPr>
        </p:pic>
        <p:sp>
          <p:nvSpPr>
            <p:cNvPr id="65" name="文本框 64"/>
            <p:cNvSpPr txBox="1"/>
            <p:nvPr/>
          </p:nvSpPr>
          <p:spPr>
            <a:xfrm>
              <a:off x="5800" y="8488"/>
              <a:ext cx="864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 b="1">
                  <a:solidFill>
                    <a:schemeClr val="tx1"/>
                  </a:solidFill>
                </a:rPr>
                <a:t>Objective: maximize expected total requests served</a:t>
              </a:r>
              <a:endParaRPr lang="en-US" altLang="zh-CN" sz="1600" b="1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Current assignments change future vehicle availability. 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</Words>
  <Application>WPS 演示</Application>
  <PresentationFormat>宽屏</PresentationFormat>
  <Paragraphs>94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DejaVu Math TeX Gyre</vt:lpstr>
      <vt:lpstr>宋体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XU</cp:lastModifiedBy>
  <cp:revision>10</cp:revision>
  <dcterms:created xsi:type="dcterms:W3CDTF">2026-09-10T01:05:28Z</dcterms:created>
  <dcterms:modified xsi:type="dcterms:W3CDTF">2026-09-10T01:05:28Z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558A42CF63FCDBB35802A26AAC1FBF1D_43</vt:lpwstr>
  </property>
</Properties>
</file>